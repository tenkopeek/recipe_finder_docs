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85" d="100"/>
          <a:sy n="85" d="100"/>
        </p:scale>
        <p:origin x="74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17176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1 (~15 сек)
Добрый день! Меня зовут Тушинский Никита, группа ИСП-42. Тема проекта — разработка сайта-конструктора рецептов с умной фильтрацией по ингредиентам на Django.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2 (~25 сек)
В современном ритме жизни найти рецепт из того, что есть в холодильнике, — реальная задача. Готовых русскоязычных решений нет. Цель — создать открытый бесплатный инструмент. Аудитория широкая: от домохозяек до начинающих разработчиков.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3 (~20 сек)
Проект разбит на шесть последовательных задач: от анализа существующих решений до тестирования готового алгоритма. Каждая задача закрывает конкретный этап разработки.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4 (~30 сек)
Анализ четырёх сервисов. Supercook и Yummly — зарубежные, без открытого кода. RussianFood не умеет ранжировать по нескольким ингредиентам. Наш проект — единственный с полным набором функций на русском языке.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5 (~25 сек)
Django выбран как наиболее самодостаточный фреймворк. Flask и FastAPI требуют внешних зависимостей. SQLite не требует настройки сервера. DTL уже встроен в Django.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6 (~30 сек)
Две модели — Ingredient и Recipe, связь Many-to-Many. Django сам создаёт промежуточную таблицу. Нормализованная структура: один ингредиент Соль не дублируется в каждом рецепте, а хранится один раз.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7 (~35 сек)
Алгоритм — три шага. Пересечение: что из выбранного есть в рецепте. Вес: сортировка по числу совпадений. Дефицит: список продуктов, которых не хватает. Всё реализовано одним QuerySet через annotate и Count — вычисления идут в SQL, не в Python.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8 (~20 сек)
Главная страница — список чекбоксов. Пользователь отмечает продукты и нажимает поиск. Данные передаются через GET, поэтому URL с выбором можно переслать.
&gt;&gt;&gt; ПОКАЗАТЬ СКРИНШОТ главной страницы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9 (~20 сек)
На странице результатов — карточки, отсортированные по числу совпадений. Каждая карточка сразу показывает, чего не хватает. Это главная фишка — пользователь сразу видит, что купить.
&gt;&gt;&gt; ПОКАЗАТЬ СКРИНШОТ страницы результатов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10 (~20 сек)
Admin-панель позволяет управлять данными без кода. Для Many-to-Many настроен удобный виджет filter_horizontal. Маршрутизация включает три маршрута: главная, результаты и панель администратора.
&gt;&gt;&gt; ПОКАЗАТЬ СКРИНШОТ admin-панели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11 (~25 сек)
Тестирование на 50 ингредиентах и 15 рецептах. Пять сценариев покрывают все граничные случаи: полное совпадение, частичное, ноль совпадений, равные веса. Все тесты пройдены.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12 (~15 сек)
Все задачи выполнены. Проект имеет реальную практическую ценность — помогает сократить пищевые отходы. Перспективы: личные кабинеты, КБЖУ, UGC, PWA. Спасибо за внимание!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72B06-0B4B-7CAC-F62E-95A2FF606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034600-46FB-BC52-7A48-DA606350B1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AC0210-C53B-AA53-9560-321D9F738E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12 (~15 сек)
Все задачи выполнены. Проект имеет реальную практическую ценность — помогает сократить пищевые отходы. Перспективы: личные кабинеты, КБЖУ, UGC, PWA. Спасибо за внимание!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517F80-8FCC-EFB6-9622-6AC6BFCB7D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1852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6583680" y="82296"/>
            <a:ext cx="2560320" cy="5061204"/>
          </a:xfrm>
          <a:prstGeom prst="rect">
            <a:avLst/>
          </a:prstGeom>
          <a:solidFill>
            <a:srgbClr val="142B1F"/>
          </a:solidFill>
          <a:ln w="12700">
            <a:solidFill>
              <a:srgbClr val="142B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6583680" y="548640"/>
            <a:ext cx="256032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41148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kern="0" spc="3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ИНДИВИДУАЛЬНЫЙ ПРОЕКТ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57607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Разработка сайта с рецептами</a:t>
            </a:r>
            <a:endParaRPr lang="en-US" sz="2800" dirty="0"/>
          </a:p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фильтрацией</a:t>
            </a:r>
            <a:endParaRPr lang="en-US" sz="2800" dirty="0"/>
          </a:p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ингредиентам на Django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1280160" cy="4572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548640" y="2926080"/>
            <a:ext cx="5760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B8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Тушинский Никита Федорович, группа ИСП-42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324612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Руководитель: Базяк Галина Владимировна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4480560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A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ГБПОУ МО «Физтех-колледж»  ·  Долгопрудный  · 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F4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 и цель проекта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50392"/>
            <a:ext cx="1645920" cy="5029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931920" cy="1874520"/>
          </a:xfrm>
          <a:prstGeom prst="rect">
            <a:avLst/>
          </a:prstGeom>
          <a:solidFill>
            <a:srgbClr val="FFF5F0"/>
          </a:solidFill>
          <a:ln w="9525">
            <a:solidFill>
              <a:srgbClr val="C5DDB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64008" cy="1874520"/>
          </a:xfrm>
          <a:prstGeom prst="rect">
            <a:avLst/>
          </a:prstGeom>
          <a:solidFill>
            <a:srgbClr val="D46B3B"/>
          </a:solidFill>
          <a:ln w="12700">
            <a:solidFill>
              <a:srgbClr val="D46B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548640" y="10698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6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389888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Пользователи тратят время на поиск рецепта из имеющихся продуктов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Русскоязычные сервисы не ранжируют по совпадениям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Никто не показывает список недостающих ингредиентов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1005840"/>
            <a:ext cx="3931920" cy="1874520"/>
          </a:xfrm>
          <a:prstGeom prst="rect">
            <a:avLst/>
          </a:prstGeom>
          <a:solidFill>
            <a:srgbClr val="F0F8E8"/>
          </a:solidFill>
          <a:ln w="9525">
            <a:solidFill>
              <a:srgbClr val="C5DDB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4846320" y="1005840"/>
            <a:ext cx="64008" cy="187452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5029200" y="10698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проекта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0" y="1389888"/>
            <a:ext cx="3611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Разработать веб-приложение «Конструктор рецептов» — подбор блюд по набору продуктов с ранжированием по степени совпадения и выводом дефицита ингредиентов.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017520"/>
            <a:ext cx="8412480" cy="914400"/>
          </a:xfrm>
          <a:prstGeom prst="rect">
            <a:avLst/>
          </a:prstGeom>
          <a:solidFill>
            <a:srgbClr val="F5FAF0"/>
          </a:solidFill>
          <a:ln w="9525">
            <a:solidFill>
              <a:srgbClr val="C5DDB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548640" y="30815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Целевая аудитория: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336499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Домохозяйки и люди, планирующие питание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310128" y="3108960"/>
            <a:ext cx="0" cy="777240"/>
          </a:xfrm>
          <a:prstGeom prst="line">
            <a:avLst/>
          </a:prstGeom>
          <a:noFill/>
          <a:ln w="9525">
            <a:solidFill>
              <a:srgbClr val="C5DDB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3337560" y="336499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Студенты с ограниченным бюджетом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099048" y="3108960"/>
            <a:ext cx="0" cy="777240"/>
          </a:xfrm>
          <a:prstGeom prst="line">
            <a:avLst/>
          </a:prstGeom>
          <a:noFill/>
          <a:ln w="9525">
            <a:solidFill>
              <a:srgbClr val="C5DDB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6126480" y="336499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Веб-разработчики (учебный пример Many-to-Many)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F4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Задачи проекта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50392"/>
            <a:ext cx="1645920" cy="5029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411480" y="1024128"/>
            <a:ext cx="406908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C5DDB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411480" y="1024128"/>
            <a:ext cx="64008" cy="1115568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576072" y="1371600"/>
            <a:ext cx="384048" cy="38404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576072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69848" y="114300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аналогов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69848" y="1481328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Исследовать Supercook, Yummly, RussianFood и обосновать необходимость собственного решения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024128"/>
            <a:ext cx="406908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C5DDB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4663440" y="1024128"/>
            <a:ext cx="64008" cy="1115568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4828032" y="1371600"/>
            <a:ext cx="384048" cy="38404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4828032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21808" y="114300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Стек технологий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21808" y="1481328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Выбрать и обосновать фреймворк, СУБД, шаблонизатор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2304288"/>
            <a:ext cx="406908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C5DDB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411480" y="2304288"/>
            <a:ext cx="64008" cy="1115568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576072" y="2651760"/>
            <a:ext cx="384048" cy="38404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576072" y="2651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69848" y="242316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Модели данных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69848" y="2761488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Спроектировать структуру с реляционной связью Many-to-Many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2304288"/>
            <a:ext cx="406908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C5DDB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4663440" y="2304288"/>
            <a:ext cx="64008" cy="1115568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4828032" y="2651760"/>
            <a:ext cx="384048" cy="38404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4828032" y="2651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321808" y="242316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Алгоритм поиска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21808" y="2761488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Реализовать ранжирование по пересечению множеств через Django ORM annotate/Count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11480" y="3584448"/>
            <a:ext cx="406908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C5DDB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9" name="Shape 27"/>
          <p:cNvSpPr/>
          <p:nvPr/>
        </p:nvSpPr>
        <p:spPr>
          <a:xfrm>
            <a:off x="411480" y="3584448"/>
            <a:ext cx="64008" cy="1115568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576072" y="3931920"/>
            <a:ext cx="384048" cy="38404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576072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69848" y="370332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Пользовательский интерфейс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69848" y="4041648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 выбора ингредиентов и страница результатов с карточками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63440" y="3584448"/>
            <a:ext cx="406908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C5DDB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5" name="Shape 33"/>
          <p:cNvSpPr/>
          <p:nvPr/>
        </p:nvSpPr>
        <p:spPr>
          <a:xfrm>
            <a:off x="4663440" y="3584448"/>
            <a:ext cx="64008" cy="1115568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Shape 34"/>
          <p:cNvSpPr/>
          <p:nvPr/>
        </p:nvSpPr>
        <p:spPr>
          <a:xfrm>
            <a:off x="4828032" y="3931920"/>
            <a:ext cx="384048" cy="38404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/>
          <p:nvPr/>
        </p:nvSpPr>
        <p:spPr>
          <a:xfrm>
            <a:off x="4828032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321808" y="370332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Тестирование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321808" y="4041648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Провести функциональное тестирование по 5 сценариям на 50 ингредиентах и 15 рецептах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F4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аналогов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50392"/>
            <a:ext cx="1645920" cy="5029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87552"/>
          <a:ext cx="8275320" cy="3104388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34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Критерий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Supercook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Yummly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RussianFood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Наш проект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34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D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Язык интерфейса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D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Английский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D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Английский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D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Русский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5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Русский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34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D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Фильтрация по нескольким ингредиентам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D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D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D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Ограниченно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5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34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D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Ранжирование по совпадениям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D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D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9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5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34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D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Вывод недостающих ингредиентов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9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9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9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5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34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D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Открытый исходный код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9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9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9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5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34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D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Бесплатный доступ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D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Частично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D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Частично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D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5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 2"/>
          <p:cNvSpPr/>
          <p:nvPr/>
        </p:nvSpPr>
        <p:spPr>
          <a:xfrm>
            <a:off x="365760" y="43434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наш проект одновременно русскоязычный, бесплатный и показывает недостающие ингредиенты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DF4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Выбор стека технологий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50392"/>
            <a:ext cx="1645920" cy="5029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411480" y="1024128"/>
            <a:ext cx="406908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C5DDB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576072" y="1481328"/>
            <a:ext cx="347472" cy="347472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576072" y="1481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115568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4.x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435608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Фреймворк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76072" y="182880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ORM, admin-панель, миграции, шаблонизатор — всё из коробки. Принцип DRY.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024128"/>
            <a:ext cx="406908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C5DDB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4828032" y="1481328"/>
            <a:ext cx="347472" cy="347472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4828032" y="1481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257800" y="1115568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257800" y="1435608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Язык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28032" y="182880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Основной язык Django. Лаконичный синтаксис, богатая экосистема.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2551176"/>
            <a:ext cx="406908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C5DDB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576072" y="3008376"/>
            <a:ext cx="347472" cy="347472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576072" y="30083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2642616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05840" y="2962656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 данных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76072" y="3355848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Встроенная БД без сервера — оптимально для учебного проекта.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2551176"/>
            <a:ext cx="406908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C5DDB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4828032" y="3008376"/>
            <a:ext cx="347472" cy="347472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4828032" y="30083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57800" y="2642616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DTL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257800" y="2962656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Шаблонизатор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28032" y="3355848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Тесно интегрирован с Django. Не требует сторонних JS-библиотек.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11480" y="4315968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A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Альтернативы: Flask (нет встроенных инструментов), FastAPI (нет шаблонов), PostgreSQL (избыточен для учебного проекта)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F4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данных: модели и связь Many-to-Many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50392"/>
            <a:ext cx="1645920" cy="5029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51460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C5DDB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514600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274320" y="10058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recipes_recipe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47472" y="1426464"/>
            <a:ext cx="23591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D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 (PK)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7472" y="1755648"/>
            <a:ext cx="2331720" cy="0"/>
          </a:xfrm>
          <a:prstGeom prst="line">
            <a:avLst/>
          </a:prstGeom>
          <a:noFill/>
          <a:ln w="6350">
            <a:solidFill>
              <a:srgbClr val="C5DDB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347472" y="1783080"/>
            <a:ext cx="23591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D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2112264"/>
            <a:ext cx="2331720" cy="0"/>
          </a:xfrm>
          <a:prstGeom prst="line">
            <a:avLst/>
          </a:prstGeom>
          <a:noFill/>
          <a:ln w="6350">
            <a:solidFill>
              <a:srgbClr val="C5DDB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347472" y="2139696"/>
            <a:ext cx="23591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D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7472" y="2468880"/>
            <a:ext cx="2331720" cy="0"/>
          </a:xfrm>
          <a:prstGeom prst="line">
            <a:avLst/>
          </a:prstGeom>
          <a:noFill/>
          <a:ln w="6350">
            <a:solidFill>
              <a:srgbClr val="C5DDB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347472" y="2496312"/>
            <a:ext cx="23591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D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instructions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91840" y="1280160"/>
            <a:ext cx="251460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C5DDB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3291840" y="1280160"/>
            <a:ext cx="2514600" cy="36576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3291840" y="12801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recipe_ingredients (M2M)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64992" y="1719072"/>
            <a:ext cx="23591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D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recipe_id  (FK)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364992" y="2048256"/>
            <a:ext cx="2331720" cy="0"/>
          </a:xfrm>
          <a:prstGeom prst="line">
            <a:avLst/>
          </a:prstGeom>
          <a:noFill/>
          <a:ln w="6350">
            <a:solidFill>
              <a:srgbClr val="C5DDB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3364992" y="2075688"/>
            <a:ext cx="23591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D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ingredient_id  (FK)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309360" y="1005840"/>
            <a:ext cx="25146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C5DDB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6309360" y="1005840"/>
            <a:ext cx="2514600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6309360" y="10058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recipes_ingredient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82512" y="1426464"/>
            <a:ext cx="23591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D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 (PK)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82512" y="1755648"/>
            <a:ext cx="2331720" cy="0"/>
          </a:xfrm>
          <a:prstGeom prst="line">
            <a:avLst/>
          </a:prstGeom>
          <a:noFill/>
          <a:ln w="6350">
            <a:solidFill>
              <a:srgbClr val="C5DDB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6382512" y="1783080"/>
            <a:ext cx="23591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D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 (unique)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88920" y="1920240"/>
            <a:ext cx="502920" cy="0"/>
          </a:xfrm>
          <a:prstGeom prst="line">
            <a:avLst/>
          </a:prstGeom>
          <a:noFill/>
          <a:ln w="19050">
            <a:solidFill>
              <a:srgbClr val="4A7C5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5806440" y="1920240"/>
            <a:ext cx="502920" cy="0"/>
          </a:xfrm>
          <a:prstGeom prst="line">
            <a:avLst/>
          </a:prstGeom>
          <a:noFill/>
          <a:ln w="19050">
            <a:solidFill>
              <a:srgbClr val="4A7C5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2651760" y="1664208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715000" y="1664208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: 1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3063240"/>
            <a:ext cx="8595360" cy="914400"/>
          </a:xfrm>
          <a:prstGeom prst="rect">
            <a:avLst/>
          </a:prstGeom>
          <a:solidFill>
            <a:srgbClr val="F0F8E8"/>
          </a:solidFill>
          <a:ln w="9525">
            <a:solidFill>
              <a:srgbClr val="C5DDB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457200" y="3127248"/>
            <a:ext cx="83210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ManyToManyField</a:t>
            </a:r>
            <a:r>
              <a:rPr lang="en-US" sz="115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 Django автоматически создаёт промежуточную таблицу. Один ингредиент «Соль» связан с неограниченным числом рецептов </a:t>
            </a:r>
            <a:r>
              <a:rPr lang="en-US" sz="1150" b="1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дублирования данных</a:t>
            </a:r>
            <a:r>
              <a:rPr lang="en-US" sz="115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Django ORM обеспечивает двустороннюю навигацию: </a:t>
            </a:r>
            <a:r>
              <a:rPr lang="en-US" sz="1150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recipe.ingredients.all()</a:t>
            </a:r>
            <a:r>
              <a:rPr lang="en-US" sz="115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 </a:t>
            </a:r>
            <a:r>
              <a:rPr lang="en-US" sz="1150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ingredient.recipes.all()</a:t>
            </a:r>
            <a:r>
              <a:rPr lang="en-US" sz="115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DF4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Алгоритм «умного» поиска и ранжирования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50392"/>
            <a:ext cx="1645920" cy="5029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320040" y="987552"/>
            <a:ext cx="265176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C5DDB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1417320" y="758952"/>
            <a:ext cx="457200" cy="45720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1417320" y="758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Пересечение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792224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= U ∩ Ri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Находим общие ингредиенты между выбором пользователя U и составом рецепта Ri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54680" y="987552"/>
            <a:ext cx="265176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C5DDB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4251960" y="758952"/>
            <a:ext cx="457200" cy="457200"/>
          </a:xfrm>
          <a:prstGeom prst="ellipse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4251960" y="758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291840" y="146304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Вес совпадения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91840" y="1792224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 = |Si|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Сортировка по убыванию Wi — рецепты с наибольшим числом совпадений поднимаются вверх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89320" y="987552"/>
            <a:ext cx="265176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C5DDB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7086600" y="758952"/>
            <a:ext cx="457200" cy="457200"/>
          </a:xfrm>
          <a:prstGeom prst="ellipse">
            <a:avLst/>
          </a:prstGeom>
          <a:solidFill>
            <a:srgbClr val="5FBC62"/>
          </a:solidFill>
          <a:ln w="12700">
            <a:solidFill>
              <a:srgbClr val="5FBC6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7086600" y="758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126480" y="146304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F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Дефицит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26480" y="1792224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= Ri \ U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Mi = ∅ → «Готов к приготовлению!»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Иначе → список продуктов, которых не хватает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3017520"/>
            <a:ext cx="8503920" cy="1508760"/>
          </a:xfrm>
          <a:prstGeom prst="rect">
            <a:avLst/>
          </a:prstGeom>
          <a:solidFill>
            <a:srgbClr val="F5FAF0"/>
          </a:solidFill>
          <a:ln w="9525">
            <a:solidFill>
              <a:srgbClr val="C5DDB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502920" y="30723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Реализация через Django ORM (views.py)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" y="3364992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3C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recipes = Recipe.objects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3C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.annotate(matches=Count('ingredients', filter=Q(ingredients__id__in=selected_ids)))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3C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.filter(matches__gt=0).order_by('-matches', 'name')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212080" y="3364992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Вычисления на стороне СУБД — нет проблемы N+1 запросов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DF4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Интерфейс: главная страница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50392"/>
            <a:ext cx="1645920" cy="5029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320040" y="987552"/>
            <a:ext cx="5029200" cy="3383280"/>
          </a:xfrm>
          <a:prstGeom prst="rect">
            <a:avLst/>
          </a:prstGeom>
          <a:solidFill>
            <a:srgbClr val="E8F0E0"/>
          </a:solidFill>
          <a:ln w="19050">
            <a:solidFill>
              <a:srgbClr val="4A7C59"/>
            </a:solidFill>
            <a:prstDash val="dashDot"/>
          </a:ln>
        </p:spPr>
        <p:txBody>
          <a:bodyPr/>
          <a:lstStyle/>
          <a:p>
            <a:endParaRPr lang="en-GB" dirty="0"/>
          </a:p>
        </p:txBody>
      </p:sp>
      <p:sp>
        <p:nvSpPr>
          <p:cNvPr id="5" name="Text 3"/>
          <p:cNvSpPr/>
          <p:nvPr/>
        </p:nvSpPr>
        <p:spPr>
          <a:xfrm>
            <a:off x="320040" y="987552"/>
            <a:ext cx="50292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СКРИНШОТ: главная страница —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адаптивная сетка чекбоксов с ингредиентами ]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577840" y="98755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 особенности: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577840" y="1316736"/>
            <a:ext cx="33375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 всех ингредиентов из базы данных в виде чекбоксов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 err="1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</a:t>
            </a:r>
            <a:r>
              <a:rPr lang="en-US" sz="115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отправляет данные методом GET — ссылку можно сохранить в закладки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Паттерн: «Отметь что есть — узнай, чего не хватает»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Кнопка «Найти рецепты» запускает алгоритм поиска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0040" y="4462272"/>
            <a:ext cx="5029200" cy="320040"/>
          </a:xfrm>
          <a:prstGeom prst="rect">
            <a:avLst/>
          </a:prstGeom>
          <a:solidFill>
            <a:srgbClr val="EAEAEA"/>
          </a:solidFill>
          <a:ln w="9525">
            <a:solidFill>
              <a:srgbClr val="C5DDB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411480" y="448056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E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/home  — форма выбора ингредиентов</a:t>
            </a:r>
            <a:endParaRPr lang="en-US" sz="1000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09B1CCD-5FEE-4375-CAA1-C36887810E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954520"/>
            <a:ext cx="5029200" cy="341631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DF4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Интерфейс: </a:t>
            </a:r>
            <a:r>
              <a:rPr lang="ru-RU" sz="2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страница рецепта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50392"/>
            <a:ext cx="1645920" cy="5029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320040" y="987552"/>
            <a:ext cx="5029200" cy="3383280"/>
          </a:xfrm>
          <a:prstGeom prst="rect">
            <a:avLst/>
          </a:prstGeom>
          <a:solidFill>
            <a:srgbClr val="E8F0E0"/>
          </a:solidFill>
          <a:ln w="19050">
            <a:solidFill>
              <a:srgbClr val="4A7C59"/>
            </a:solidFill>
            <a:prstDash val="dashDot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320040" y="987552"/>
            <a:ext cx="50292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СКРИНШОТ: страница результатов —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карточки рецептов с индикатором совпадений ]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577840" y="98755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Элементы карточки рецепта: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577840" y="1316736"/>
            <a:ext cx="33375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Карточки рецептов, отсортированные по убыванию числа совпадений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ru-RU" sz="115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Название блюда с его кратким описанием</a:t>
            </a: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ru-RU" sz="1150" dirty="0">
                <a:solidFill>
                  <a:srgbClr val="1E2D1E"/>
                </a:solidFill>
                <a:latin typeface="Calibri" pitchFamily="34" charset="0"/>
                <a:cs typeface="Calibri" pitchFamily="34" charset="-120"/>
              </a:rPr>
              <a:t>Список ингредиентов в рецепте</a:t>
            </a: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ru-RU" sz="1150" dirty="0">
                <a:solidFill>
                  <a:srgbClr val="1E2D1E"/>
                </a:solidFill>
                <a:latin typeface="Calibri" pitchFamily="34" charset="0"/>
                <a:cs typeface="Calibri" pitchFamily="34" charset="-120"/>
              </a:rPr>
              <a:t>Строка «Нужно докупить»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0040" y="4462272"/>
            <a:ext cx="5029200" cy="320040"/>
          </a:xfrm>
          <a:prstGeom prst="rect">
            <a:avLst/>
          </a:prstGeom>
          <a:solidFill>
            <a:srgbClr val="EAEAEA"/>
          </a:solidFill>
          <a:ln w="9525">
            <a:solidFill>
              <a:srgbClr val="C5DDB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411480" y="448056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5A6E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/home/?ingredients=3&amp;ingredients=7</a:t>
            </a:r>
            <a:endParaRPr lang="en-US" sz="1000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332B7FC-5CC3-451A-A2FF-BD5601A8479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0199"/>
          <a:stretch>
            <a:fillRect/>
          </a:stretch>
        </p:blipFill>
        <p:spPr>
          <a:xfrm>
            <a:off x="320040" y="987552"/>
            <a:ext cx="5029200" cy="3420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DF4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Административная панель Django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50392"/>
            <a:ext cx="1645920" cy="5029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320040" y="987552"/>
            <a:ext cx="48463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СКРИНШОТ: Django Admin —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управление рецептами и ингредиентами,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виджет filter_horizontal ]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0" y="987552"/>
            <a:ext cx="425196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C5DDB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4592187" y="987552"/>
            <a:ext cx="64008" cy="256032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4829931" y="106070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Возможности admin-панели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29931" y="1371600"/>
            <a:ext cx="31546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рецептов по названию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Фильтрация </a:t>
            </a:r>
            <a:r>
              <a:rPr lang="en-US" sz="1150" dirty="0" err="1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</a:t>
            </a:r>
            <a:r>
              <a:rPr lang="en-US" sz="115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ингредиентам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Добавление данных без SQL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Быстрое наполнение базы рецептами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3703320"/>
            <a:ext cx="8503920" cy="1051560"/>
          </a:xfrm>
          <a:prstGeom prst="rect">
            <a:avLst/>
          </a:prstGeom>
          <a:solidFill>
            <a:srgbClr val="F0F8E8"/>
          </a:solidFill>
          <a:ln w="9525">
            <a:solidFill>
              <a:srgbClr val="C5DDB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502920" y="37673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Маршрутизация (urls.py)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4059936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508760" y="4059936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home()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 выбора ингредиентов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337560" y="4059936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/recipes/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343400" y="4059936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recipes()</a:t>
            </a:r>
            <a:endParaRPr lang="en-US" sz="1050" dirty="0"/>
          </a:p>
          <a:p>
            <a:pPr marL="0" indent="0">
              <a:buNone/>
            </a:pPr>
            <a:r>
              <a:rPr lang="ru-RU" sz="105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страница рецепта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172200" y="4059936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/admin/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178040" y="4059936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Admin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управление базой данных</a:t>
            </a:r>
            <a:endParaRPr lang="en-US" sz="1050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5096C42C-44A0-A55C-5CFA-F5EA6A62DEB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" t="13300" r="2400" b="-13300"/>
          <a:stretch>
            <a:fillRect/>
          </a:stretch>
        </p:blipFill>
        <p:spPr>
          <a:xfrm>
            <a:off x="319691" y="987552"/>
            <a:ext cx="3762331" cy="296985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DF4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Функциональное тестирование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50392"/>
            <a:ext cx="1645920" cy="5029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19202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5DDB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A7C59"/>
                </a:solidFill>
                <a:latin typeface="Calibri" pitchFamily="34" charset="0"/>
                <a:cs typeface="Calibri" pitchFamily="34" charset="-120"/>
              </a:rPr>
              <a:t>46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481328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ингредиентов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A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базе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87168" y="987552"/>
            <a:ext cx="19202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5DDB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2487168" y="100584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487168" y="1481328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рецептов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A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теста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08576" y="987552"/>
            <a:ext cx="19202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5DDB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4608576" y="100584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608576" y="1481328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тестовых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A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сценариев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29984" y="987552"/>
            <a:ext cx="1920240" cy="868680"/>
          </a:xfrm>
          <a:prstGeom prst="rect">
            <a:avLst/>
          </a:prstGeom>
          <a:solidFill>
            <a:srgbClr val="EBF5D8"/>
          </a:solidFill>
          <a:ln w="9525">
            <a:solidFill>
              <a:srgbClr val="C5DDB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6729984" y="100584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5/5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729984" y="1481328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сценариев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A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пройдено</a:t>
            </a:r>
            <a:endParaRPr lang="en-US" sz="1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993392"/>
          <a:ext cx="7452360" cy="2633472"/>
        </p:xfrm>
        <a:graphic>
          <a:graphicData uri="http://schemas.openxmlformats.org/drawingml/2006/table">
            <a:tbl>
              <a:tblPr/>
              <a:tblGrid>
                <a:gridCol w="411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№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Тестовый сценарий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Ожидаемый результат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Итог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D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D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Ингредиенты полностью совпадают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D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Блок «не хватает» пуст, рецепт первый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A5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Пройден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D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D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Частичное совпадение ингредиентов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D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Карточка с перечнем дефицита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A5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Пройден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D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D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Пользователь не выбрал ничего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D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Пустая страница с подсказкой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A5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Пройден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D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D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Одинаковый вес у нескольких рецептов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D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Доп. сортировка по алфавиту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A5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Пройден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D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D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Ингредиенты не входят ни в один рецепт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D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Страница результатов пуста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A5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Пройден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320040" y="4553712"/>
            <a:ext cx="8503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5 тестовых сценариев пройдены успешно. Алгоритм корректно обрабатывает крайние случаи: 0 совпадений, полное совпадение, равные веса.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3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6446520" y="82296"/>
            <a:ext cx="2697480" cy="5061204"/>
          </a:xfrm>
          <a:prstGeom prst="rect">
            <a:avLst/>
          </a:prstGeom>
          <a:solidFill>
            <a:srgbClr val="142B1F"/>
          </a:solidFill>
          <a:ln w="12700">
            <a:solidFill>
              <a:srgbClr val="142B1F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4" name="Text 2"/>
          <p:cNvSpPr/>
          <p:nvPr/>
        </p:nvSpPr>
        <p:spPr>
          <a:xfrm>
            <a:off x="6492240" y="82296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92240" y="148132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ингредиентов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92240" y="219456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92240" y="285292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рецептов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92240" y="356616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5/5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492240" y="422452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тестов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56032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Итоги и перспективы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658368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Достигнутые результаты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987552"/>
            <a:ext cx="54864" cy="25603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658368" y="987552"/>
            <a:ext cx="5577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Реализована архитектура Many-to-Many на Django ORM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1399032"/>
            <a:ext cx="54864" cy="25603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658368" y="1399032"/>
            <a:ext cx="5577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Алгоритм ранжирования по пересечению множеств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1810512"/>
            <a:ext cx="54864" cy="25603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658368" y="1810512"/>
            <a:ext cx="5577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 дефицита ингредиентов для каждого рецепта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2221992"/>
            <a:ext cx="54864" cy="25603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658368" y="2221992"/>
            <a:ext cx="5577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5 тест-сценариев пройдены успешно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2724912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Перспективы развития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2920" y="3054096"/>
            <a:ext cx="54864" cy="237744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658368" y="3054096"/>
            <a:ext cx="5577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Личные кабинеты — история поиска и избранные рецепты</a:t>
            </a:r>
            <a:endParaRPr lang="en-US" sz="1150" dirty="0">
              <a:solidFill>
                <a:schemeClr val="accent6"/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02920" y="3447288"/>
            <a:ext cx="54864" cy="237744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658368" y="3447288"/>
            <a:ext cx="5577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Расчёт КБЖУ для каждого блюда</a:t>
            </a:r>
            <a:endParaRPr lang="en-US" sz="1150" dirty="0">
              <a:solidFill>
                <a:schemeClr val="accent6"/>
              </a:solidFill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02920" y="3840480"/>
            <a:ext cx="54864" cy="237744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658368" y="3840480"/>
            <a:ext cx="5577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UGC — добавление рецептов пользователями</a:t>
            </a:r>
            <a:endParaRPr lang="en-US" sz="1150" dirty="0">
              <a:solidFill>
                <a:schemeClr val="accent6"/>
              </a:solidFill>
            </a:endParaRPr>
          </a:p>
        </p:txBody>
      </p:sp>
      <p:sp>
        <p:nvSpPr>
          <p:cNvPr id="27" name="Shape 25"/>
          <p:cNvSpPr/>
          <p:nvPr/>
        </p:nvSpPr>
        <p:spPr>
          <a:xfrm>
            <a:off x="502920" y="4233672"/>
            <a:ext cx="54864" cy="237744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658368" y="4233672"/>
            <a:ext cx="5577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— мобильное приложение без установки</a:t>
            </a:r>
            <a:endParaRPr lang="en-US" sz="1150" dirty="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C2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E061D7-A6A0-43BA-472B-2164D1D03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3B117CD-E9A6-1A56-0907-BF5B6D47D9D1}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E238972-8C55-E631-3DFC-0AA8C50F6BC4}"/>
              </a:ext>
            </a:extLst>
          </p:cNvPr>
          <p:cNvSpPr txBox="1"/>
          <p:nvPr/>
        </p:nvSpPr>
        <p:spPr>
          <a:xfrm>
            <a:off x="161144" y="201331"/>
            <a:ext cx="457949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ru-RU" sz="3200" b="1" dirty="0">
                <a:solidFill>
                  <a:srgbClr val="97BC62"/>
                </a:solidFill>
                <a:latin typeface="Calibri" pitchFamily="34" charset="0"/>
                <a:cs typeface="Calibri" pitchFamily="34" charset="-120"/>
              </a:rPr>
              <a:t>Ссылки</a:t>
            </a:r>
            <a:endParaRPr lang="en-US" sz="3200" dirty="0"/>
          </a:p>
        </p:txBody>
      </p:sp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F85308CA-1CC7-3912-1014-4702B43604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31404" y="1145653"/>
            <a:ext cx="2372506" cy="2372506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B07A4B63-57F8-71DF-FC37-F0B3447C04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68847" y="1145654"/>
            <a:ext cx="2372505" cy="2372505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B0D84693-486E-94A2-5B13-802684F616D9}"/>
              </a:ext>
            </a:extLst>
          </p:cNvPr>
          <p:cNvSpPr txBox="1"/>
          <p:nvPr/>
        </p:nvSpPr>
        <p:spPr>
          <a:xfrm>
            <a:off x="663315" y="3658934"/>
            <a:ext cx="390868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schemeClr val="accent6"/>
                </a:solidFill>
              </a:rPr>
              <a:t>https://github.com/tenkopeek/recipe_finder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CFEEFAF-8824-050D-B60F-0D637FD74CE0}"/>
              </a:ext>
            </a:extLst>
          </p:cNvPr>
          <p:cNvSpPr txBox="1"/>
          <p:nvPr/>
        </p:nvSpPr>
        <p:spPr>
          <a:xfrm>
            <a:off x="5123045" y="3645278"/>
            <a:ext cx="342884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schemeClr val="accent6"/>
                </a:solidFill>
              </a:rPr>
              <a:t>https://moiiom.pythonanywhere.com/</a:t>
            </a:r>
          </a:p>
        </p:txBody>
      </p:sp>
    </p:spTree>
    <p:extLst>
      <p:ext uri="{BB962C8B-B14F-4D97-AF65-F5344CB8AC3E}">
        <p14:creationId xmlns:p14="http://schemas.microsoft.com/office/powerpoint/2010/main" val="2685252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</TotalTime>
  <Words>1447</Words>
  <Application>Microsoft Office PowerPoint</Application>
  <PresentationFormat>Экран (16:9)</PresentationFormat>
  <Paragraphs>255</Paragraphs>
  <Slides>13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7" baseType="lpstr">
      <vt:lpstr>Arial</vt:lpstr>
      <vt:lpstr>Calibri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Userok</cp:lastModifiedBy>
  <cp:revision>10</cp:revision>
  <dcterms:created xsi:type="dcterms:W3CDTF">2026-04-22T20:09:29Z</dcterms:created>
  <dcterms:modified xsi:type="dcterms:W3CDTF">2026-04-23T09:07:26Z</dcterms:modified>
</cp:coreProperties>
</file>